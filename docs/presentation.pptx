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-1645920"/>
            <a:ext cx="6949440" cy="6949440"/>
          </a:xfrm>
          <a:prstGeom prst="ellipse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6F5"/>
                </a:solidFill>
                <a:latin typeface="Microsoft YaHei"/>
              </a:defRPr>
            </a:pPr>
            <a:r>
              <a:t>MDIC26 赛道二 · Data Agent 数据智能体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基于 MinerU 的智能文档处理系统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0D8E8"/>
                </a:solidFill>
                <a:latin typeface="Microsoft YaHei"/>
              </a:defRPr>
            </a:pPr>
            <a:r>
              <a:t>MinerU DataAgent — 自动化、高质量、低成本的复杂文档解析方案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371600" cy="54864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4114800"/>
            <a:ext cx="457200" cy="54864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99AA"/>
                </a:solidFill>
                <a:latin typeface="Microsoft YaHei"/>
              </a:defRPr>
            </a:pPr>
            <a:r>
              <a:t>团队：Team CacinieP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7788"/>
                </a:solidFill>
                <a:latin typeface="Microsoft YaHei"/>
              </a:defRPr>
            </a:pPr>
            <a:r>
              <a:t>技术栈：LangGraph · MinerU · FastAPI · Python 3.10+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Team CacinieP  |  MDIC26 Track2 Evo-Eval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267093" cy="27432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6F5"/>
                </a:solidFill>
                <a:latin typeface="Microsoft YaHei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A2B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66160" cy="4389120"/>
          </a:xfrm>
          <a:prstGeom prst="roundRect">
            <a:avLst/>
          </a:prstGeom>
          <a:solidFill>
            <a:srgbClr val="F0F4FF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6F5"/>
                </a:solidFill>
                <a:latin typeface="Microsoft YaHei"/>
              </a:defRPr>
            </a:pPr>
            <a:r>
              <a:t>任务一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1A2B"/>
                </a:solidFill>
                <a:latin typeface="Microsoft YaHei"/>
              </a:defRPr>
            </a:pPr>
            <a:r>
              <a:t>数据理解与结构化处理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F"/>
                </a:solidFill>
                <a:latin typeface="Microsoft YaHei"/>
              </a:defRPr>
            </a:pPr>
            <a:r>
              <a:t>多源数据识别、信息抽取、格式转换、数据清洗、元数据抽取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566160" cy="4389120"/>
          </a:xfrm>
          <a:prstGeom prst="roundRect">
            <a:avLst/>
          </a:prstGeom>
          <a:solidFill>
            <a:srgbClr val="F0F4FF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6F5"/>
                </a:solidFill>
                <a:latin typeface="Microsoft YaHei"/>
              </a:defRPr>
            </a:pPr>
            <a:r>
              <a:t>任务二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1A2B"/>
                </a:solidFill>
                <a:latin typeface="Microsoft YaHei"/>
              </a:defRPr>
            </a:pPr>
            <a:r>
              <a:t>复杂任务规划与自动执行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688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F"/>
                </a:solidFill>
                <a:latin typeface="Microsoft YaHei"/>
              </a:defRPr>
            </a:pPr>
            <a:r>
              <a:t>LLM 自动拆解子任务、工具链调度、批处理、异常恢复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3566160" cy="4389120"/>
          </a:xfrm>
          <a:prstGeom prst="roundRect">
            <a:avLst/>
          </a:prstGeom>
          <a:solidFill>
            <a:srgbClr val="F0F4FF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45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6F5"/>
                </a:solidFill>
                <a:latin typeface="Microsoft YaHei"/>
              </a:defRPr>
            </a:pPr>
            <a:r>
              <a:t>任务三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65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1A2B"/>
                </a:solidFill>
                <a:latin typeface="Microsoft YaHei"/>
              </a:defRPr>
            </a:pPr>
            <a:r>
              <a:t>系统稳定性与综合能力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6888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F"/>
                </a:solidFill>
                <a:latin typeface="Microsoft YaHei"/>
              </a:defRPr>
            </a:pPr>
            <a:r>
              <a:t>高负载稳定执行、结果可靠性、325 自动化测试、Docker 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F"/>
                </a:solidFill>
                <a:latin typeface="Microsoft YaHei"/>
              </a:defRPr>
            </a:pPr>
            <a:r>
              <a:t>Team CacinieP  |  MDIC26 Track2 Evo-Eval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B7F"/>
                </a:solidFill>
                <a:latin typeface="Microsoft YaHe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267093" cy="27432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6F5"/>
                </a:solidFill>
                <a:latin typeface="Microsoft YaHei"/>
              </a:defRPr>
            </a:pPr>
            <a:r>
              <a:t>KEY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A2B"/>
                </a:solidFill>
                <a:latin typeface="Microsoft YaHei"/>
              </a:defRPr>
            </a:pPr>
            <a:r>
              <a:t>五大难点场景与针对性方案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C1A2B"/>
                </a:solidFill>
                <a:latin typeface="Microsoft YaHei"/>
              </a:defRPr>
            </a:pPr>
            <a:r>
              <a:t>财务报表数字解析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F"/>
                </a:solidFill>
                <a:latin typeface="Microsoft YaHei"/>
              </a:defRPr>
            </a:pPr>
            <a:r>
              <a:t>表格结构识别 + LLM 校验 + 数值一致性检查（行合计/百分比/资产负债平衡）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C1A2B"/>
                </a:solidFill>
                <a:latin typeface="Microsoft YaHei"/>
              </a:defRPr>
            </a:pPr>
            <a:r>
              <a:t>跨页合并与指代消解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51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F"/>
                </a:solidFill>
                <a:latin typeface="Microsoft YaHei"/>
              </a:defRPr>
            </a:pPr>
            <a:r>
              <a:t>页面关联分析 + 实体注册表 + LLM 消解 + SequenceMatcher 续接检测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4290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383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C1A2B"/>
                </a:solidFill>
                <a:latin typeface="Microsoft YaHei"/>
              </a:defRPr>
            </a:pPr>
            <a:r>
              <a:t>低质量文档鲁棒性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F"/>
                </a:solidFill>
                <a:latin typeface="Microsoft YaHei"/>
              </a:defRPr>
            </a:pPr>
            <a:r>
              <a:t>7 步自适应增强管线：CLAHE / 降噪 / 去倾斜 / 去印章 / 二值化 / DPI 提升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89120"/>
            <a:ext cx="365760" cy="365760"/>
          </a:xfrm>
          <a:prstGeom prst="ellipse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348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C1A2B"/>
                </a:solidFill>
                <a:latin typeface="Microsoft YaHei"/>
              </a:defRPr>
            </a:pPr>
            <a:r>
              <a:t>复杂图表解析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F"/>
                </a:solidFill>
                <a:latin typeface="Microsoft YaHei"/>
              </a:defRPr>
            </a:pPr>
            <a:r>
              <a:t>18 种图表分类 + LLM 视觉 + OpenCV 备选 + Chart-to-Table 转换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5394960"/>
            <a:ext cx="365760" cy="365760"/>
          </a:xfrm>
          <a:prstGeom prst="ellipse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40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94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C1A2B"/>
                </a:solidFill>
                <a:latin typeface="Microsoft YaHei"/>
              </a:defRPr>
            </a:pPr>
            <a:r>
              <a:t>国标/行业标准结构化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F"/>
                </a:solidFill>
                <a:latin typeface="Microsoft YaHei"/>
              </a:defRPr>
            </a:pPr>
            <a:r>
              <a:t>MinerU 解析 + 后处理结构化 + 规范条款自动提取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F"/>
                </a:solidFill>
                <a:latin typeface="Microsoft YaHei"/>
              </a:defRPr>
            </a:pPr>
            <a:r>
              <a:t>Team CacinieP  |  MDIC26 Track2 Evo-Eval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B7F"/>
                </a:solidFill>
                <a:latin typeface="Microsoft YaHe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6F5"/>
                </a:solidFill>
                <a:latin typeface="Microsoft YaHe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系统架构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1097280"/>
          </a:xfrm>
          <a:prstGeom prst="roundRect">
            <a:avLst/>
          </a:prstGeom>
          <a:solidFill>
            <a:srgbClr val="1A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API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FastAPI REST API  |  CLI  |  Batch  | 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77440"/>
            <a:ext cx="10972800" cy="1097280"/>
          </a:xfrm>
          <a:prstGeom prst="round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LangGraph Agent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analyze_task → plan_execution → execute_step → verify_result → format_output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10972800" cy="1097280"/>
          </a:xfrm>
          <a:prstGeom prst="roundRect">
            <a:avLst/>
          </a:prstGeom>
          <a:solidFill>
            <a:srgbClr val="3A4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Tool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MinerU Parser  ·  Table Parser  ·  Chart Analyzer  ·  Image Enhancer  ·  Cross-Page Merger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303520"/>
            <a:ext cx="10972800" cy="1097280"/>
          </a:xfrm>
          <a:prstGeom prst="roundRect">
            <a:avLst/>
          </a:prstGeom>
          <a:solidFill>
            <a:srgbClr val="2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MinerU Models (GPU/CPU)  ·  PaddleOCR  ·  OpenCV  ·  LLM API (Claude/Qwen/GLM)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Team CacinieP  |  MDIC26 Track2 Evo-Eval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267093" cy="27432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6F5"/>
                </a:solidFill>
                <a:latin typeface="Microsoft YaHei"/>
              </a:defRPr>
            </a:pPr>
            <a:r>
              <a:t>CAPABILITY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A2B"/>
                </a:solidFill>
                <a:latin typeface="Microsoft YaHei"/>
              </a:defRPr>
            </a:pPr>
            <a:r>
              <a:t>复杂任务规划与自动执行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73152" cy="502920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C1A2B"/>
                </a:solidFill>
                <a:latin typeface="Microsoft YaHei"/>
              </a:defRPr>
            </a:pPr>
            <a:r>
              <a:t>LangGraph StateGraph 6 节点 + 3 条件路由：自动拆解 → 有序执行 → 错误恢复 → 质量验证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73152" cy="502920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C1A2B"/>
                </a:solidFill>
                <a:latin typeface="Microsoft YaHei"/>
              </a:defRPr>
            </a:pPr>
            <a:r>
              <a:t>任务分析：LLM 深度分析（可用时）/ 启发式关键词匹配（降级时），自动识别文档类型与难度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73152" cy="502920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C1A2B"/>
                </a:solidFill>
                <a:latin typeface="Microsoft YaHei"/>
              </a:defRPr>
            </a:pPr>
            <a:r>
              <a:t>动态计划生成：基于 assessment 构建 SubTask DAG，自动添加表格提取、图表分析、跨页合并等步骤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69079"/>
            <a:ext cx="73152" cy="502920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1479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C1A2B"/>
                </a:solidFill>
                <a:latin typeface="Microsoft YaHei"/>
              </a:defRPr>
            </a:pPr>
            <a:r>
              <a:t>三级容错：单步 3 次重试 → 验证失败触发最多 2 轮重规划 → 最佳努力输出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37760"/>
            <a:ext cx="73152" cy="502920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983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C1A2B"/>
                </a:solidFill>
                <a:latin typeface="Microsoft YaHei"/>
              </a:defRPr>
            </a:pPr>
            <a:r>
              <a:t>批处理支持：CLI batch 命令 + /tasks/batch API，支持 100+ 文件统一格式输出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F"/>
                </a:solidFill>
                <a:latin typeface="Microsoft YaHei"/>
              </a:defRPr>
            </a:pPr>
            <a:r>
              <a:t>Team CacinieP  |  MDIC26 Track2 Evo-Eval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B7F"/>
                </a:solidFill>
                <a:latin typeface="Microsoft YaHe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267093" cy="27432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6F5"/>
                </a:solidFill>
                <a:latin typeface="Microsoft YaHei"/>
              </a:defRPr>
            </a:pPr>
            <a:r>
              <a:t>CAPABILITY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A2B"/>
                </a:solidFill>
                <a:latin typeface="Microsoft YaHei"/>
              </a:defRPr>
            </a:pPr>
            <a:r>
              <a:t>数据理解与结构化处理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486400" cy="4754880"/>
          </a:xfrm>
          <a:prstGeom prst="roundRect">
            <a:avLst/>
          </a:prstGeom>
          <a:solidFill>
            <a:srgbClr val="F0F4FF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1A2B"/>
                </a:solidFill>
                <a:latin typeface="Microsoft YaHei"/>
              </a:defRPr>
            </a:pPr>
            <a:r>
              <a:t>核心工具链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66F5"/>
                </a:solidFill>
                <a:latin typeface="Microsoft YaHei"/>
              </a:defRPr>
            </a:pPr>
            <a:r>
              <a:t>MinerU Parser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Microsoft YaHei"/>
              </a:defRPr>
            </a:pPr>
            <a:r>
              <a:t>PDF/图片/DOCX/PPTX/HTML 全格式支持，本地 + 云端双模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66F5"/>
                </a:solidFill>
                <a:latin typeface="Microsoft YaHei"/>
              </a:defRPr>
            </a:pPr>
            <a:r>
              <a:t>Table 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Microsoft YaHei"/>
              </a:defRPr>
            </a:pPr>
            <a:r>
              <a:t>HTML→结构化网格 + 合并单元格展开 + 中文数字解析 + 数值自验证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66F5"/>
                </a:solidFill>
                <a:latin typeface="Microsoft YaHei"/>
              </a:defRPr>
            </a:pPr>
            <a:r>
              <a:t>Chart Analyzer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947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Microsoft YaHei"/>
              </a:defRPr>
            </a:pPr>
            <a:r>
              <a:t>18 种图表分类 + LLM 视觉数据提取 + Chart-to-Table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66F5"/>
                </a:solidFill>
                <a:latin typeface="Microsoft YaHei"/>
              </a:defRPr>
            </a:pPr>
            <a:r>
              <a:t>Image Enhancer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Microsoft YaHei"/>
              </a:defRPr>
            </a:pPr>
            <a:r>
              <a:t>7 步自适应管线：模糊/光照/签章/倾斜/降噪/二值化/超分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20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66F5"/>
                </a:solidFill>
                <a:latin typeface="Microsoft YaHei"/>
              </a:defRPr>
            </a:pPr>
            <a:r>
              <a:t>Cross-Page Merger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Microsoft YaHei"/>
              </a:defRPr>
            </a:pPr>
            <a:r>
              <a:t>跨页表格续接检测 + 实体注册表 + 指代消解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371600"/>
            <a:ext cx="5486400" cy="4754880"/>
          </a:xfrm>
          <a:prstGeom prst="roundRect">
            <a:avLst/>
          </a:prstGeom>
          <a:solidFill>
            <a:srgbClr val="F0F4FF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C1A2B"/>
                </a:solidFill>
                <a:latin typeface="Microsoft YaHei"/>
              </a:defRPr>
            </a:pPr>
            <a:r>
              <a:t>输出格式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011680"/>
            <a:ext cx="1097280" cy="365760"/>
          </a:xfrm>
          <a:prstGeom prst="round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57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0116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F"/>
                </a:solidFill>
                <a:latin typeface="Microsoft YaHei"/>
              </a:defRPr>
            </a:pPr>
            <a:r>
              <a:t>完整结构化结果：execution_summary / tables / charts / verification / logs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200400"/>
            <a:ext cx="1097280" cy="365760"/>
          </a:xfrm>
          <a:prstGeom prst="round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Markdown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2004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F"/>
                </a:solidFill>
                <a:latin typeface="Microsoft YaHei"/>
              </a:defRPr>
            </a:pPr>
            <a:r>
              <a:t>MinerU 原生 Markdown 输出，含表格和图片引用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389120"/>
            <a:ext cx="1097280" cy="365760"/>
          </a:xfrm>
          <a:prstGeom prst="round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4348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438912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F"/>
                </a:solidFill>
                <a:latin typeface="Microsoft YaHei"/>
              </a:defRPr>
            </a:pPr>
            <a:r>
              <a:t>表格数据可直接导出为 CSV 用于下游分析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F"/>
                </a:solidFill>
                <a:latin typeface="Microsoft YaHei"/>
              </a:defRPr>
            </a:pPr>
            <a:r>
              <a:t>Team CacinieP  |  MDIC26 Track2 Evo-Eval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B7F"/>
                </a:solidFill>
                <a:latin typeface="Microsoft YaHe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267093" cy="27432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6F5"/>
                </a:solidFill>
                <a:latin typeface="Microsoft YaHei"/>
              </a:defRPr>
            </a:pPr>
            <a:r>
              <a:t>CAPABILITY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A2B"/>
                </a:solidFill>
                <a:latin typeface="Microsoft YaHei"/>
              </a:defRPr>
            </a:pPr>
            <a:r>
              <a:t>系统稳定性与综合能力评测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651760" cy="1280160"/>
          </a:xfrm>
          <a:prstGeom prst="roundRect">
            <a:avLst/>
          </a:prstGeom>
          <a:solidFill>
            <a:srgbClr val="F0F4FF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66F5"/>
                </a:solidFill>
                <a:latin typeface="Microsoft YaHei"/>
              </a:defRPr>
            </a:pPr>
            <a:r>
              <a:t>325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C6B7F"/>
                </a:solidFill>
                <a:latin typeface="Microsoft YaHei"/>
              </a:defRPr>
            </a:pPr>
            <a:r>
              <a:t>自动化测试用例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651760" cy="1280160"/>
          </a:xfrm>
          <a:prstGeom prst="roundRect">
            <a:avLst/>
          </a:prstGeom>
          <a:solidFill>
            <a:srgbClr val="F0F4FF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4630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66F5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C6B7F"/>
                </a:solidFill>
                <a:latin typeface="Microsoft YaHei"/>
              </a:defRPr>
            </a:pPr>
            <a:r>
              <a:t>核心测试模块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2651760" cy="1280160"/>
          </a:xfrm>
          <a:prstGeom prst="roundRect">
            <a:avLst/>
          </a:prstGeom>
          <a:solidFill>
            <a:srgbClr val="F0F4FF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66F5"/>
                </a:solidFill>
                <a:latin typeface="Microsoft YaHei"/>
              </a:defRPr>
            </a:pPr>
            <a:r>
              <a:t>0.7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C6B7F"/>
                </a:solidFill>
                <a:latin typeface="Microsoft YaHei"/>
              </a:defRPr>
            </a:pPr>
            <a:r>
              <a:t>质量阈值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371600"/>
            <a:ext cx="2651760" cy="1280160"/>
          </a:xfrm>
          <a:prstGeom prst="roundRect">
            <a:avLst/>
          </a:prstGeom>
          <a:solidFill>
            <a:srgbClr val="F0F4FF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46304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66F5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057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C6B7F"/>
                </a:solidFill>
                <a:latin typeface="Microsoft YaHei"/>
              </a:defRPr>
            </a:pPr>
            <a:r>
              <a:t>最大重试次数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73152" cy="502920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71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C1A2B"/>
                </a:solidFill>
                <a:latin typeface="Microsoft YaHei"/>
              </a:defRPr>
            </a:pPr>
            <a:r>
              <a:t>四维动态质量评分：内容完整性(0.30) + 执行完成度(0.30) + 任务匹配度(0.20) + 内容丰富度(0.20)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794760"/>
            <a:ext cx="73152" cy="502920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C1A2B"/>
                </a:solidFill>
                <a:latin typeface="Microsoft YaHei"/>
              </a:defRPr>
            </a:pPr>
            <a:r>
              <a:t>异常恢复：工具未注册 → 跳过；MinerU 失败 → PyMuPDF 回退；内存溢出 → 自动分页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663440"/>
            <a:ext cx="73152" cy="502920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709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C1A2B"/>
                </a:solidFill>
                <a:latin typeface="Microsoft YaHei"/>
              </a:defRPr>
            </a:pPr>
            <a:r>
              <a:t>工程化保障：Docker 多阶段构建 · GitHub Actions CI · Healthcheck · 结构化日志 + SSE 实时流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532120"/>
            <a:ext cx="73152" cy="502920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C1A2B"/>
                </a:solidFill>
                <a:latin typeface="Microsoft YaHei"/>
              </a:defRPr>
            </a:pPr>
            <a:r>
              <a:t>双模部署：本地 GPU (25-30 页/秒) ↔ 云端 API (Precise/Free 自动 fallback)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F"/>
                </a:solidFill>
                <a:latin typeface="Microsoft YaHei"/>
              </a:defRPr>
            </a:pPr>
            <a:r>
              <a:t>Team CacinieP  |  MDIC26 Track2 Evo-Eval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B7F"/>
                </a:solidFill>
                <a:latin typeface="Microsoft YaHe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6F5"/>
                </a:solidFill>
                <a:latin typeface="Microsoft YaHei"/>
              </a:defRPr>
            </a:pPr>
            <a:r>
              <a:t>TECHNICAL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技术创新点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77724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44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66F5"/>
                </a:solidFill>
                <a:latin typeface="Microsoft YaHei"/>
              </a:defRPr>
            </a:pPr>
            <a:r>
              <a:t>中文大写数字解析器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4447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壹佰贰拾叁万 → 1,230,000，支持壹贰叁/一二三/万亿元单位自动转换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10972800" cy="77724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66F5"/>
                </a:solidFill>
                <a:latin typeface="Microsoft YaHei"/>
              </a:defRPr>
            </a:pPr>
            <a:r>
              <a:t>数值自验证机制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3591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不仅提取数字，还能交叉验证：行合计核对、百分比验证、资产负债表平衡检查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00400"/>
            <a:ext cx="10972800" cy="77724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735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66F5"/>
                </a:solidFill>
                <a:latin typeface="Microsoft YaHei"/>
              </a:defRPr>
            </a:pPr>
            <a:r>
              <a:t>括号负数识别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735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(1,234.56) → -1234.56，适配财务报告常见表示法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10972800" cy="77724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879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66F5"/>
                </a:solidFill>
                <a:latin typeface="Microsoft YaHei"/>
              </a:defRPr>
            </a:pPr>
            <a:r>
              <a:t>大文件自动分片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1879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超过 200 页 PDF 自动切分 → 逐段解析 → 结果合并，实测 411 页报告 3 段处理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029200"/>
            <a:ext cx="10972800" cy="77724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1023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66F5"/>
                </a:solidFill>
                <a:latin typeface="Microsoft YaHei"/>
              </a:defRPr>
            </a:pPr>
            <a:r>
              <a:t>无 LLM 降级运行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10235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DDEE"/>
                </a:solidFill>
                <a:latin typeface="Microsoft YaHei"/>
              </a:defRPr>
            </a:pPr>
            <a:r>
              <a:t>未配置 API Key 时自动切换启发式分析，所有功能可用，精度略有下降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Team CacinieP  |  MDIC26 Track2 Evo-Eval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267093" cy="27432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6F5"/>
                </a:solidFill>
                <a:latin typeface="Microsoft YaHei"/>
              </a:defRPr>
            </a:pPr>
            <a:r>
              <a:t>TYPICAL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A2B"/>
                </a:solidFill>
                <a:latin typeface="Microsoft YaHei"/>
              </a:defRPr>
            </a:pPr>
            <a:r>
              <a:t>典型任务执行示例与性能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4173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页数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17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耗时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输出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质量分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8562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金融公开披露材料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85623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411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8562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15.9s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8562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343,762 字符 Markdown + 28 表格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8562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0.85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3591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材料科学论文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3591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252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3591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~20s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359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296,973 字符 Markdown + 图表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35915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0.85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8620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航天国标文件 (GB/T)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8620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286207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~5s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8620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4,472 字符 + 规范结构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862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0.85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3649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自制财务样本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3649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33649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8.1s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364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2 表格 + 数值一致性验证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33649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0.83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794760"/>
            <a:ext cx="10972800" cy="4572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8679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411 页金融报告 (Cloud)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38679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411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38679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341.4s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38679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463,250 字符 (3 段合并)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38679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C1A2B"/>
                </a:solidFill>
                <a:latin typeface="Microsoft YaHei"/>
              </a:defRPr>
            </a:pPr>
            <a:r>
              <a:t>0.85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F"/>
                </a:solidFill>
                <a:latin typeface="Microsoft YaHei"/>
              </a:defRPr>
            </a:pPr>
            <a:r>
              <a:t>吞吐量：约 25–30 页/秒（GPU 本地模式）|  云端 Precise API：≤200MB/≤200 页/次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F"/>
                </a:solidFill>
                <a:latin typeface="Microsoft YaHei"/>
              </a:defRPr>
            </a:pPr>
            <a:r>
              <a:t>Team CacinieP  |  MDIC26 Track2 Evo-Eval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B7F"/>
                </a:solidFill>
                <a:latin typeface="Microsoft YaHe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267093" cy="27432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6F5"/>
                </a:solidFill>
                <a:latin typeface="Microsoft YaHei"/>
              </a:defRPr>
            </a:pPr>
            <a:r>
              <a:t>ENGINEERING &amp;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C1A2B"/>
                </a:solidFill>
                <a:latin typeface="Microsoft YaHei"/>
              </a:defRPr>
            </a:pPr>
            <a:r>
              <a:t>工程化与测试覆盖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566160" cy="2011680"/>
          </a:xfrm>
          <a:prstGeom prst="roundRect">
            <a:avLst/>
          </a:prstGeom>
          <a:solidFill>
            <a:srgbClr val="F0F4FF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6F5"/>
                </a:solidFill>
                <a:latin typeface="Consolas"/>
              </a:defRPr>
            </a:pPr>
            <a:r>
              <a:t>test_api.py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74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66F5"/>
                </a:solidFill>
                <a:latin typeface="Microsoft YaHei"/>
              </a:defRPr>
            </a:pPr>
            <a:r>
              <a:t>21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Microsoft YaHei"/>
              </a:defRPr>
            </a:pPr>
            <a:r>
              <a:t>TaskStore + API 端点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566160" cy="2011680"/>
          </a:xfrm>
          <a:prstGeom prst="roundRect">
            <a:avLst/>
          </a:prstGeom>
          <a:solidFill>
            <a:srgbClr val="F0F4FF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08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6F5"/>
                </a:solidFill>
                <a:latin typeface="Consolas"/>
              </a:defRPr>
            </a:pPr>
            <a:r>
              <a:t>test_graph.py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74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66F5"/>
                </a:solidFill>
                <a:latin typeface="Microsoft YaHei"/>
              </a:defRPr>
            </a:pPr>
            <a:r>
              <a:t>27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Microsoft YaHei"/>
              </a:defRPr>
            </a:pPr>
            <a:r>
              <a:t>Agent 图/路由/验证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371600"/>
            <a:ext cx="3566160" cy="2011680"/>
          </a:xfrm>
          <a:prstGeom prst="roundRect">
            <a:avLst/>
          </a:prstGeom>
          <a:solidFill>
            <a:srgbClr val="F0F4FF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508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6F5"/>
                </a:solidFill>
                <a:latin typeface="Consolas"/>
              </a:defRPr>
            </a:pPr>
            <a:r>
              <a:t>test_mineru_parser.py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874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66F5"/>
                </a:solidFill>
                <a:latin typeface="Microsoft YaHei"/>
              </a:defRPr>
            </a:pPr>
            <a:r>
              <a:t>38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423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Microsoft YaHei"/>
              </a:defRPr>
            </a:pPr>
            <a:r>
              <a:t>MinerU 解析/回退/分片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57600"/>
            <a:ext cx="3566160" cy="2011680"/>
          </a:xfrm>
          <a:prstGeom prst="roundRect">
            <a:avLst/>
          </a:prstGeom>
          <a:solidFill>
            <a:srgbClr val="F0F4FF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94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6F5"/>
                </a:solidFill>
                <a:latin typeface="Consolas"/>
              </a:defRPr>
            </a:pPr>
            <a:r>
              <a:t>test_chart_analyzer.py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0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66F5"/>
                </a:solidFill>
                <a:latin typeface="Microsoft YaHei"/>
              </a:defRPr>
            </a:pPr>
            <a:r>
              <a:t>56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709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Microsoft YaHei"/>
              </a:defRPr>
            </a:pPr>
            <a:r>
              <a:t>图表分类/视觉/数据提取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657600"/>
            <a:ext cx="3566160" cy="2011680"/>
          </a:xfrm>
          <a:prstGeom prst="roundRect">
            <a:avLst/>
          </a:prstGeom>
          <a:solidFill>
            <a:srgbClr val="F0F4FF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794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6F5"/>
                </a:solidFill>
                <a:latin typeface="Consolas"/>
              </a:defRPr>
            </a:pPr>
            <a:r>
              <a:t>test_crosspage_merger.py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160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66F5"/>
                </a:solidFill>
                <a:latin typeface="Microsoft YaHei"/>
              </a:defRPr>
            </a:pPr>
            <a:r>
              <a:t>50 tests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709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Microsoft YaHei"/>
              </a:defRPr>
            </a:pPr>
            <a:r>
              <a:t>跨页合并/实体/指代消解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657600"/>
            <a:ext cx="3566160" cy="2011680"/>
          </a:xfrm>
          <a:prstGeom prst="roundRect">
            <a:avLst/>
          </a:prstGeom>
          <a:solidFill>
            <a:srgbClr val="F0F4FF"/>
          </a:solidFill>
          <a:ln>
            <a:solidFill>
              <a:srgbClr val="C6D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7947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66F5"/>
                </a:solidFill>
                <a:latin typeface="Consolas"/>
              </a:defRPr>
            </a:pPr>
            <a:r>
              <a:t>test_image_enhancer.py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1605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66F5"/>
                </a:solidFill>
                <a:latin typeface="Microsoft YaHei"/>
              </a:defRPr>
            </a:pPr>
            <a:r>
              <a:t>58 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709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Microsoft YaHei"/>
              </a:defRPr>
            </a:pPr>
            <a:r>
              <a:t>图像增强/质量评估/OCR 投票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C6B7F"/>
                </a:solidFill>
                <a:latin typeface="Microsoft YaHei"/>
              </a:defRPr>
            </a:pPr>
            <a:r>
              <a:t>Team CacinieP  |  MDIC26 Track2 Evo-Eval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C6B7F"/>
                </a:solidFill>
                <a:latin typeface="Microsoft YaHe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66F5"/>
                </a:solidFill>
                <a:latin typeface="Microsoft YaHei"/>
              </a:defRPr>
            </a:pPr>
            <a:r>
              <a:t>APPLICATION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应用价值与适用场景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10972800" cy="77724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914400" cy="320040"/>
          </a:xfrm>
          <a:prstGeom prst="round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金融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444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年报/季报批量解析、财务数据提取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4447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E66F5"/>
                </a:solidFill>
                <a:latin typeface="Microsoft YaHei"/>
              </a:defRPr>
            </a:pPr>
            <a:r>
              <a:t>提取效率提升 10–50 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10972800" cy="77724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468880"/>
            <a:ext cx="914400" cy="320040"/>
          </a:xfrm>
          <a:prstGeom prst="round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871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法律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3591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合同文档结构化、法规条款提取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359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E66F5"/>
                </a:solidFill>
                <a:latin typeface="Microsoft YaHei"/>
              </a:defRPr>
            </a:pPr>
            <a:r>
              <a:t>降低人力成本 80%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0400"/>
            <a:ext cx="10972800" cy="77724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3383280"/>
            <a:ext cx="914400" cy="320040"/>
          </a:xfrm>
          <a:prstGeom prst="round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4015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制造/航天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273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技术文档解析、国标规范提取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2735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E66F5"/>
                </a:solidFill>
                <a:latin typeface="Microsoft YaHei"/>
              </a:defRPr>
            </a:pPr>
            <a:r>
              <a:t>自动化合规检查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10972800" cy="77724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297680"/>
            <a:ext cx="914400" cy="320040"/>
          </a:xfrm>
          <a:prstGeom prst="round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159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学术研究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1879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论文批量处理、图表数据提取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187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E66F5"/>
                </a:solidFill>
                <a:latin typeface="Microsoft YaHei"/>
              </a:defRPr>
            </a:pPr>
            <a:r>
              <a:t>高质量训练语料生产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029200"/>
            <a:ext cx="10972800" cy="777240"/>
          </a:xfrm>
          <a:prstGeom prst="round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5212080"/>
            <a:ext cx="914400" cy="320040"/>
          </a:xfrm>
          <a:prstGeom prst="round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303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教育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1023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教材数字化、图文混合处理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1023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1E66F5"/>
                </a:solidFill>
                <a:latin typeface="Microsoft YaHei"/>
              </a:defRPr>
            </a:pPr>
            <a:r>
              <a:t>知识图谱构建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Team CacinieP  |  MDIC26 Track2 Evo-Eval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645920"/>
            <a:ext cx="5120640" cy="5120640"/>
          </a:xfrm>
          <a:prstGeom prst="ellipse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66F5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基于 MinerU 的 Data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DDEE"/>
                </a:solidFill>
                <a:latin typeface="Microsoft YaHei"/>
              </a:defRPr>
            </a:pPr>
            <a:r>
              <a:t>自动化 · 高质量 · 低成本 · 可复现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C6B7F"/>
                </a:solidFill>
                <a:latin typeface="Microsoft YaHei"/>
              </a:defRPr>
            </a:pPr>
            <a:r>
              <a:t>GitHub: github.com/CacinieP/MDIC26-Track2-Evo-Eval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754880"/>
            <a:ext cx="1371600" cy="54864"/>
          </a:xfrm>
          <a:prstGeom prst="rect">
            <a:avLst/>
          </a:prstGeom>
          <a:solidFill>
            <a:srgbClr val="1E6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4754880"/>
            <a:ext cx="457200" cy="54864"/>
          </a:xfrm>
          <a:prstGeom prst="rect">
            <a:avLst/>
          </a:prstGeom>
          <a:solidFill>
            <a:srgbClr val="6E5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Team CacinieP  |  MDIC26 Track2 Evo-Eval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99AA"/>
                </a:solidFill>
                <a:latin typeface="Microsoft YaHe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